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 Bold" charset="1" panose="020B0704020202020204"/>
      <p:regular r:id="rId13"/>
    </p:embeddedFont>
    <p:embeddedFont>
      <p:font typeface="Arimo" charset="1" panose="020B06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746748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ATM Simulator in 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152133"/>
            <a:ext cx="16303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A practical demonstration of core ATM functionalities including secure authentication ,balance management and transaction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tracking using persistent file storage in C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6344326"/>
            <a:ext cx="16303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Sahil Dabra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| SAP ID: 590023527 | Batch 60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272754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Problem Definition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86497"/>
            <a:ext cx="4252912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The Challenge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634954"/>
            <a:ext cx="7805886" cy="166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Manual managing your own money all over the world is very tough and carrying money with you physically is unsafe and 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problematic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401" y="3886497"/>
            <a:ext cx="4252912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Project Scope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99401" y="4634954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Secure PIN-based authentication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9401" y="5187702"/>
            <a:ext cx="780588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Core banking operations (withdraw, deposit, balance inquiry)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401" y="6194077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Transaction history tracking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401" y="6746825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Persistent data storage using files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1" y="7299572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Account security with lockout mechanism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07541"/>
            <a:ext cx="7187952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Solution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5" y="2312937"/>
            <a:ext cx="8019455" cy="3420070"/>
            <a:chOff x="0" y="0"/>
            <a:chExt cx="10692607" cy="45600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679811" cy="4547362"/>
            </a:xfrm>
            <a:custGeom>
              <a:avLst/>
              <a:gdLst/>
              <a:ahLst/>
              <a:cxnLst/>
              <a:rect r="r" b="b" t="t" l="l"/>
              <a:pathLst>
                <a:path h="4547362" w="10679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388612"/>
                  </a:lnTo>
                  <a:cubicBezTo>
                    <a:pt x="10679811" y="4476369"/>
                    <a:pt x="10608563" y="4547362"/>
                    <a:pt x="10520807" y="4547362"/>
                  </a:cubicBezTo>
                  <a:lnTo>
                    <a:pt x="159004" y="4547362"/>
                  </a:lnTo>
                  <a:cubicBezTo>
                    <a:pt x="71120" y="4547362"/>
                    <a:pt x="0" y="4476242"/>
                    <a:pt x="0" y="4388612"/>
                  </a:cubicBezTo>
                  <a:close/>
                </a:path>
              </a:pathLst>
            </a:custGeom>
            <a:solidFill>
              <a:srgbClr val="3D3D42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2511" cy="4560062"/>
            </a:xfrm>
            <a:custGeom>
              <a:avLst/>
              <a:gdLst/>
              <a:ahLst/>
              <a:cxnLst/>
              <a:rect r="r" b="b" t="t" l="l"/>
              <a:pathLst>
                <a:path h="4560062" w="10692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394962"/>
                  </a:lnTo>
                  <a:lnTo>
                    <a:pt x="10686161" y="4394962"/>
                  </a:lnTo>
                  <a:lnTo>
                    <a:pt x="10692511" y="4394962"/>
                  </a:lnTo>
                  <a:cubicBezTo>
                    <a:pt x="10692511" y="4486148"/>
                    <a:pt x="10618470" y="4560062"/>
                    <a:pt x="10527157" y="4560062"/>
                  </a:cubicBezTo>
                  <a:lnTo>
                    <a:pt x="10527157" y="4553712"/>
                  </a:lnTo>
                  <a:lnTo>
                    <a:pt x="10527157" y="4560062"/>
                  </a:lnTo>
                  <a:lnTo>
                    <a:pt x="165354" y="4560062"/>
                  </a:lnTo>
                  <a:lnTo>
                    <a:pt x="165354" y="4553712"/>
                  </a:lnTo>
                  <a:lnTo>
                    <a:pt x="165354" y="4560062"/>
                  </a:lnTo>
                  <a:cubicBezTo>
                    <a:pt x="74041" y="4560062"/>
                    <a:pt x="0" y="4486148"/>
                    <a:pt x="0" y="43949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394962"/>
                  </a:lnTo>
                  <a:lnTo>
                    <a:pt x="6350" y="4394962"/>
                  </a:lnTo>
                  <a:lnTo>
                    <a:pt x="12700" y="4394962"/>
                  </a:lnTo>
                  <a:cubicBezTo>
                    <a:pt x="12700" y="4479163"/>
                    <a:pt x="81026" y="4547362"/>
                    <a:pt x="165354" y="4547362"/>
                  </a:cubicBezTo>
                  <a:lnTo>
                    <a:pt x="10527157" y="4547362"/>
                  </a:lnTo>
                  <a:cubicBezTo>
                    <a:pt x="10611485" y="4547362"/>
                    <a:pt x="10679811" y="4479163"/>
                    <a:pt x="10679811" y="4394962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0" y="2610742"/>
            <a:ext cx="850552" cy="850552"/>
            <a:chOff x="0" y="0"/>
            <a:chExt cx="1134070" cy="113407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2844552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7" y="0"/>
                </a:lnTo>
                <a:lnTo>
                  <a:pt x="382637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536" r="0" b="-853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0" y="370671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Authentication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0" y="4253061"/>
            <a:ext cx="7423845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PIN verification with 3-attempt limit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280" y="4876800"/>
            <a:ext cx="7423845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Account lockout on failed attempts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0922" y="2312937"/>
            <a:ext cx="8019604" cy="3420070"/>
            <a:chOff x="0" y="0"/>
            <a:chExt cx="10692805" cy="45600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10680065" cy="4547362"/>
            </a:xfrm>
            <a:custGeom>
              <a:avLst/>
              <a:gdLst/>
              <a:ahLst/>
              <a:cxnLst/>
              <a:rect r="r" b="b" t="t" l="l"/>
              <a:pathLst>
                <a:path h="4547362" w="10680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1061" y="0"/>
                  </a:lnTo>
                  <a:cubicBezTo>
                    <a:pt x="10608945" y="0"/>
                    <a:pt x="10680065" y="71120"/>
                    <a:pt x="10680065" y="158750"/>
                  </a:cubicBezTo>
                  <a:lnTo>
                    <a:pt x="10680065" y="4388612"/>
                  </a:lnTo>
                  <a:cubicBezTo>
                    <a:pt x="10680065" y="4476369"/>
                    <a:pt x="10608818" y="4547362"/>
                    <a:pt x="10521061" y="4547362"/>
                  </a:cubicBezTo>
                  <a:lnTo>
                    <a:pt x="159004" y="4547362"/>
                  </a:lnTo>
                  <a:cubicBezTo>
                    <a:pt x="71120" y="4547362"/>
                    <a:pt x="0" y="4476242"/>
                    <a:pt x="0" y="4388612"/>
                  </a:cubicBezTo>
                  <a:close/>
                </a:path>
              </a:pathLst>
            </a:custGeom>
            <a:solidFill>
              <a:srgbClr val="3D3D42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92765" cy="4560062"/>
            </a:xfrm>
            <a:custGeom>
              <a:avLst/>
              <a:gdLst/>
              <a:ahLst/>
              <a:cxnLst/>
              <a:rect r="r" b="b" t="t" l="l"/>
              <a:pathLst>
                <a:path h="4560062" w="10692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411" y="0"/>
                  </a:lnTo>
                  <a:lnTo>
                    <a:pt x="10527411" y="6350"/>
                  </a:lnTo>
                  <a:lnTo>
                    <a:pt x="10527411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4394962"/>
                  </a:lnTo>
                  <a:lnTo>
                    <a:pt x="10686415" y="4394962"/>
                  </a:lnTo>
                  <a:lnTo>
                    <a:pt x="10692765" y="4394962"/>
                  </a:lnTo>
                  <a:cubicBezTo>
                    <a:pt x="10692765" y="4486148"/>
                    <a:pt x="10618724" y="4560062"/>
                    <a:pt x="10527411" y="4560062"/>
                  </a:cubicBezTo>
                  <a:lnTo>
                    <a:pt x="10527411" y="4553712"/>
                  </a:lnTo>
                  <a:lnTo>
                    <a:pt x="10527411" y="4560062"/>
                  </a:lnTo>
                  <a:lnTo>
                    <a:pt x="165354" y="4560062"/>
                  </a:lnTo>
                  <a:lnTo>
                    <a:pt x="165354" y="4553712"/>
                  </a:lnTo>
                  <a:lnTo>
                    <a:pt x="165354" y="4560062"/>
                  </a:lnTo>
                  <a:cubicBezTo>
                    <a:pt x="74041" y="4560062"/>
                    <a:pt x="0" y="4486148"/>
                    <a:pt x="0" y="43949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394962"/>
                  </a:lnTo>
                  <a:lnTo>
                    <a:pt x="6350" y="4394962"/>
                  </a:lnTo>
                  <a:lnTo>
                    <a:pt x="12700" y="4394962"/>
                  </a:lnTo>
                  <a:cubicBezTo>
                    <a:pt x="12700" y="4479163"/>
                    <a:pt x="81026" y="4547362"/>
                    <a:pt x="165354" y="4547362"/>
                  </a:cubicBezTo>
                  <a:lnTo>
                    <a:pt x="10527411" y="4547362"/>
                  </a:lnTo>
                  <a:cubicBezTo>
                    <a:pt x="10611739" y="4547362"/>
                    <a:pt x="10680065" y="4479163"/>
                    <a:pt x="10680065" y="4394962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578728" y="2610742"/>
            <a:ext cx="850553" cy="850552"/>
            <a:chOff x="0" y="0"/>
            <a:chExt cx="1134070" cy="113407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578728" y="370671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Menu System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78728" y="4253061"/>
            <a:ext cx="7423994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Six core operations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78728" y="4876800"/>
            <a:ext cx="7423994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User-friendly interface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7475" y="6007001"/>
            <a:ext cx="8019455" cy="3420070"/>
            <a:chOff x="0" y="0"/>
            <a:chExt cx="10692607" cy="45600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0679811" cy="4547362"/>
            </a:xfrm>
            <a:custGeom>
              <a:avLst/>
              <a:gdLst/>
              <a:ahLst/>
              <a:cxnLst/>
              <a:rect r="r" b="b" t="t" l="l"/>
              <a:pathLst>
                <a:path h="4547362" w="10679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388612"/>
                  </a:lnTo>
                  <a:cubicBezTo>
                    <a:pt x="10679811" y="4476369"/>
                    <a:pt x="10608563" y="4547362"/>
                    <a:pt x="10520807" y="4547362"/>
                  </a:cubicBezTo>
                  <a:lnTo>
                    <a:pt x="159004" y="4547362"/>
                  </a:lnTo>
                  <a:cubicBezTo>
                    <a:pt x="71120" y="4547362"/>
                    <a:pt x="0" y="4476242"/>
                    <a:pt x="0" y="4388612"/>
                  </a:cubicBezTo>
                  <a:close/>
                </a:path>
              </a:pathLst>
            </a:custGeom>
            <a:solidFill>
              <a:srgbClr val="3D3D42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92511" cy="4560062"/>
            </a:xfrm>
            <a:custGeom>
              <a:avLst/>
              <a:gdLst/>
              <a:ahLst/>
              <a:cxnLst/>
              <a:rect r="r" b="b" t="t" l="l"/>
              <a:pathLst>
                <a:path h="4560062" w="10692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394962"/>
                  </a:lnTo>
                  <a:lnTo>
                    <a:pt x="10686161" y="4394962"/>
                  </a:lnTo>
                  <a:lnTo>
                    <a:pt x="10692511" y="4394962"/>
                  </a:lnTo>
                  <a:cubicBezTo>
                    <a:pt x="10692511" y="4486148"/>
                    <a:pt x="10618470" y="4560062"/>
                    <a:pt x="10527157" y="4560062"/>
                  </a:cubicBezTo>
                  <a:lnTo>
                    <a:pt x="10527157" y="4553712"/>
                  </a:lnTo>
                  <a:lnTo>
                    <a:pt x="10527157" y="4560062"/>
                  </a:lnTo>
                  <a:lnTo>
                    <a:pt x="165354" y="4560062"/>
                  </a:lnTo>
                  <a:lnTo>
                    <a:pt x="165354" y="4553712"/>
                  </a:lnTo>
                  <a:lnTo>
                    <a:pt x="165354" y="4560062"/>
                  </a:lnTo>
                  <a:cubicBezTo>
                    <a:pt x="74041" y="4560062"/>
                    <a:pt x="0" y="4486148"/>
                    <a:pt x="0" y="43949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394962"/>
                  </a:lnTo>
                  <a:lnTo>
                    <a:pt x="6350" y="4394962"/>
                  </a:lnTo>
                  <a:lnTo>
                    <a:pt x="12700" y="4394962"/>
                  </a:lnTo>
                  <a:cubicBezTo>
                    <a:pt x="12700" y="4479163"/>
                    <a:pt x="81026" y="4547362"/>
                    <a:pt x="165354" y="4547362"/>
                  </a:cubicBezTo>
                  <a:lnTo>
                    <a:pt x="10527157" y="4547362"/>
                  </a:lnTo>
                  <a:cubicBezTo>
                    <a:pt x="10611485" y="4547362"/>
                    <a:pt x="10679811" y="4479163"/>
                    <a:pt x="10679811" y="4394962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85280" y="6304806"/>
            <a:ext cx="850552" cy="850552"/>
            <a:chOff x="0" y="0"/>
            <a:chExt cx="1134070" cy="113407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519238" y="6538615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7" y="0"/>
                </a:lnTo>
                <a:lnTo>
                  <a:pt x="382637" y="382637"/>
                </a:lnTo>
                <a:lnTo>
                  <a:pt x="0" y="382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317" r="0" b="-7317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85280" y="740077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File Management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5280" y="7947124"/>
            <a:ext cx="7423845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account.txt stores user’s data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5280" y="8570862"/>
            <a:ext cx="7423845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transactions.txt logs history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80922" y="6007001"/>
            <a:ext cx="8019604" cy="3420070"/>
            <a:chOff x="0" y="0"/>
            <a:chExt cx="10692805" cy="45600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350" y="6350"/>
              <a:ext cx="10680065" cy="4547362"/>
            </a:xfrm>
            <a:custGeom>
              <a:avLst/>
              <a:gdLst/>
              <a:ahLst/>
              <a:cxnLst/>
              <a:rect r="r" b="b" t="t" l="l"/>
              <a:pathLst>
                <a:path h="4547362" w="10680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1061" y="0"/>
                  </a:lnTo>
                  <a:cubicBezTo>
                    <a:pt x="10608945" y="0"/>
                    <a:pt x="10680065" y="71120"/>
                    <a:pt x="10680065" y="158750"/>
                  </a:cubicBezTo>
                  <a:lnTo>
                    <a:pt x="10680065" y="4388612"/>
                  </a:lnTo>
                  <a:cubicBezTo>
                    <a:pt x="10680065" y="4476369"/>
                    <a:pt x="10608818" y="4547362"/>
                    <a:pt x="10521061" y="4547362"/>
                  </a:cubicBezTo>
                  <a:lnTo>
                    <a:pt x="159004" y="4547362"/>
                  </a:lnTo>
                  <a:cubicBezTo>
                    <a:pt x="71120" y="4547362"/>
                    <a:pt x="0" y="4476242"/>
                    <a:pt x="0" y="4388612"/>
                  </a:cubicBezTo>
                  <a:close/>
                </a:path>
              </a:pathLst>
            </a:custGeom>
            <a:solidFill>
              <a:srgbClr val="3D3D42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92765" cy="4560062"/>
            </a:xfrm>
            <a:custGeom>
              <a:avLst/>
              <a:gdLst/>
              <a:ahLst/>
              <a:cxnLst/>
              <a:rect r="r" b="b" t="t" l="l"/>
              <a:pathLst>
                <a:path h="4560062" w="10692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411" y="0"/>
                  </a:lnTo>
                  <a:lnTo>
                    <a:pt x="10527411" y="6350"/>
                  </a:lnTo>
                  <a:lnTo>
                    <a:pt x="10527411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4394962"/>
                  </a:lnTo>
                  <a:lnTo>
                    <a:pt x="10686415" y="4394962"/>
                  </a:lnTo>
                  <a:lnTo>
                    <a:pt x="10692765" y="4394962"/>
                  </a:lnTo>
                  <a:cubicBezTo>
                    <a:pt x="10692765" y="4486148"/>
                    <a:pt x="10618724" y="4560062"/>
                    <a:pt x="10527411" y="4560062"/>
                  </a:cubicBezTo>
                  <a:lnTo>
                    <a:pt x="10527411" y="4553712"/>
                  </a:lnTo>
                  <a:lnTo>
                    <a:pt x="10527411" y="4560062"/>
                  </a:lnTo>
                  <a:lnTo>
                    <a:pt x="165354" y="4560062"/>
                  </a:lnTo>
                  <a:lnTo>
                    <a:pt x="165354" y="4553712"/>
                  </a:lnTo>
                  <a:lnTo>
                    <a:pt x="165354" y="4560062"/>
                  </a:lnTo>
                  <a:cubicBezTo>
                    <a:pt x="74041" y="4560062"/>
                    <a:pt x="0" y="4486148"/>
                    <a:pt x="0" y="43949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394962"/>
                  </a:lnTo>
                  <a:lnTo>
                    <a:pt x="6350" y="4394962"/>
                  </a:lnTo>
                  <a:lnTo>
                    <a:pt x="12700" y="4394962"/>
                  </a:lnTo>
                  <a:cubicBezTo>
                    <a:pt x="12700" y="4479163"/>
                    <a:pt x="81026" y="4547362"/>
                    <a:pt x="165354" y="4547362"/>
                  </a:cubicBezTo>
                  <a:lnTo>
                    <a:pt x="10527411" y="4547362"/>
                  </a:lnTo>
                  <a:cubicBezTo>
                    <a:pt x="10611739" y="4547362"/>
                    <a:pt x="10680065" y="4479163"/>
                    <a:pt x="10680065" y="4394962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578728" y="6304806"/>
            <a:ext cx="850553" cy="850552"/>
            <a:chOff x="0" y="0"/>
            <a:chExt cx="1134070" cy="113407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9812685" y="6538615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7" y="0"/>
                </a:lnTo>
                <a:lnTo>
                  <a:pt x="382637" y="382637"/>
                </a:lnTo>
                <a:lnTo>
                  <a:pt x="0" y="3826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1951" r="0" b="-21951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578728" y="740077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Real-time Updates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78728" y="7947124"/>
            <a:ext cx="7423994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Immediate data persistence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78728" y="8570862"/>
            <a:ext cx="7423994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State maintained across sessions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86420" y="648891"/>
            <a:ext cx="6332041" cy="83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System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6420" y="1994446"/>
            <a:ext cx="1266379" cy="1519684"/>
            <a:chOff x="0" y="0"/>
            <a:chExt cx="1688505" cy="202624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4" r="-2" b="-12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05955" y="2228552"/>
            <a:ext cx="3166021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Initialize &amp; Load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05955" y="2699891"/>
            <a:ext cx="14995624" cy="50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Read account.txt or create default (PIN: 1234, Balance: 5000)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6420" y="3514130"/>
            <a:ext cx="1266379" cy="1519684"/>
            <a:chOff x="0" y="0"/>
            <a:chExt cx="1688505" cy="202624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4" r="-2" b="-12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05955" y="3748236"/>
            <a:ext cx="3166021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Security Check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05955" y="4219575"/>
            <a:ext cx="14995624" cy="50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Verify account not locked, prompt for PIN (max 3 attempts)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6420" y="5033814"/>
            <a:ext cx="1266379" cy="1519684"/>
            <a:chOff x="0" y="0"/>
            <a:chExt cx="1688505" cy="202624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4" r="-2" b="-12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05955" y="5267920"/>
            <a:ext cx="3166021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Main Menu Loop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05955" y="5739259"/>
            <a:ext cx="14995624" cy="50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Display 6 options, execute chosen operation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6420" y="6553497"/>
            <a:ext cx="1266379" cy="1519684"/>
            <a:chOff x="0" y="0"/>
            <a:chExt cx="1688505" cy="2026245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4" r="-2" b="-12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405955" y="6787604"/>
            <a:ext cx="3166021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Update &amp; Save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05955" y="7258942"/>
            <a:ext cx="14995624" cy="50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Persist changes to files, log transaction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6420" y="8073181"/>
            <a:ext cx="1266379" cy="1519684"/>
            <a:chOff x="0" y="0"/>
            <a:chExt cx="1688505" cy="2026245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688465" cy="2026285"/>
            </a:xfrm>
            <a:custGeom>
              <a:avLst/>
              <a:gdLst/>
              <a:ahLst/>
              <a:cxnLst/>
              <a:rect r="r" b="b" t="t" l="l"/>
              <a:pathLst>
                <a:path h="2026285" w="1688465">
                  <a:moveTo>
                    <a:pt x="0" y="0"/>
                  </a:moveTo>
                  <a:lnTo>
                    <a:pt x="1688465" y="0"/>
                  </a:lnTo>
                  <a:lnTo>
                    <a:pt x="1688465" y="2026285"/>
                  </a:lnTo>
                  <a:lnTo>
                    <a:pt x="0" y="20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4" r="-2" b="-12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405955" y="8307289"/>
            <a:ext cx="3166021" cy="41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Exit or Repeat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05955" y="8778628"/>
            <a:ext cx="14995624" cy="50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Return to menu or terminate session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3786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Code Demonstration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782216"/>
            <a:ext cx="5824091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Core Functions Implemented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202335"/>
            <a:ext cx="5245447" cy="3004245"/>
            <a:chOff x="0" y="0"/>
            <a:chExt cx="6993930" cy="40056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3164235"/>
            <a:ext cx="5245447" cy="152400"/>
            <a:chOff x="0" y="0"/>
            <a:chExt cx="6993930" cy="2032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13855" y="387295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load() &amp; save()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3855" y="4419303"/>
            <a:ext cx="460221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Read/write PIN, lock status, and balance from account.txt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2" y="3202335"/>
            <a:ext cx="5245447" cy="3004245"/>
            <a:chOff x="0" y="0"/>
            <a:chExt cx="6993930" cy="40056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521202" y="3164235"/>
            <a:ext cx="5245447" cy="152400"/>
            <a:chOff x="0" y="0"/>
            <a:chExt cx="6993930" cy="2032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42820" y="387295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addTrans()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42820" y="4419303"/>
            <a:ext cx="4602212" cy="146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Append transaction details to transactions.txt with amount and updated balance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50166" y="3202335"/>
            <a:ext cx="5245447" cy="3004245"/>
            <a:chOff x="0" y="0"/>
            <a:chExt cx="6993930" cy="40056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93890" cy="4005707"/>
            </a:xfrm>
            <a:custGeom>
              <a:avLst/>
              <a:gdLst/>
              <a:ahLst/>
              <a:cxnLst/>
              <a:rect r="r" b="b" t="t" l="l"/>
              <a:pathLst>
                <a:path h="4005707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761867"/>
                  </a:lnTo>
                  <a:cubicBezTo>
                    <a:pt x="6993890" y="3896487"/>
                    <a:pt x="6884670" y="4005707"/>
                    <a:pt x="6750050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050166" y="3164235"/>
            <a:ext cx="5245447" cy="152400"/>
            <a:chOff x="0" y="0"/>
            <a:chExt cx="6993930" cy="2032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t="0" r="-27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371784" y="3872954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trimOld()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71784" y="4419303"/>
            <a:ext cx="460221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Keep only last 5 transactions by reading into array and rewriting file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2238" y="6915299"/>
            <a:ext cx="8009930" cy="2550616"/>
            <a:chOff x="0" y="0"/>
            <a:chExt cx="10679907" cy="34008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79938" cy="3400806"/>
            </a:xfrm>
            <a:custGeom>
              <a:avLst/>
              <a:gdLst/>
              <a:ahLst/>
              <a:cxnLst/>
              <a:rect r="r" b="b" t="t" l="l"/>
              <a:pathLst>
                <a:path h="3400806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92238" y="6877199"/>
            <a:ext cx="8009930" cy="152400"/>
            <a:chOff x="0" y="0"/>
            <a:chExt cx="10679907" cy="2032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0679938" cy="203200"/>
            </a:xfrm>
            <a:custGeom>
              <a:avLst/>
              <a:gdLst/>
              <a:ahLst/>
              <a:cxnLst/>
              <a:rect r="r" b="b" t="t" l="l"/>
              <a:pathLst>
                <a:path h="2032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" t="0" r="-3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571925" y="6490098"/>
            <a:ext cx="850553" cy="850552"/>
            <a:chOff x="0" y="0"/>
            <a:chExt cx="1134070" cy="113407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13855" y="7585919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statement()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3855" y="8132266"/>
            <a:ext cx="736669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Display mini statement by reading and printing transaction file contents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85685" y="6915299"/>
            <a:ext cx="8009930" cy="2550616"/>
            <a:chOff x="0" y="0"/>
            <a:chExt cx="10679907" cy="340082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79938" cy="3400806"/>
            </a:xfrm>
            <a:custGeom>
              <a:avLst/>
              <a:gdLst/>
              <a:ahLst/>
              <a:cxnLst/>
              <a:rect r="r" b="b" t="t" l="l"/>
              <a:pathLst>
                <a:path h="3400806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156966"/>
                  </a:lnTo>
                  <a:cubicBezTo>
                    <a:pt x="10679938" y="3291586"/>
                    <a:pt x="10570718" y="3400806"/>
                    <a:pt x="10436098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285685" y="6877199"/>
            <a:ext cx="8009930" cy="152400"/>
            <a:chOff x="0" y="0"/>
            <a:chExt cx="10679907" cy="2032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0679938" cy="203200"/>
            </a:xfrm>
            <a:custGeom>
              <a:avLst/>
              <a:gdLst/>
              <a:ahLst/>
              <a:cxnLst/>
              <a:rect r="r" b="b" t="t" l="l"/>
              <a:pathLst>
                <a:path h="2032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" t="0" r="-3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607302" y="7585919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chnagepin()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07302" y="8132266"/>
            <a:ext cx="7366695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Update PIN variable and immediately persist to file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114996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Technical Highlights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72874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Libraries Used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388495"/>
            <a:ext cx="49166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stdio.h — I/O operations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941242"/>
            <a:ext cx="49166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string.h — String handling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10201" y="372874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Data Structures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10201" y="4388495"/>
            <a:ext cx="49166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Global variables for state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10201" y="4941242"/>
            <a:ext cx="49166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2D char array for transactions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10201" y="5493990"/>
            <a:ext cx="49166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FILE pointers for persistence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28165" y="3728740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Key Concepts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28165" y="4388495"/>
            <a:ext cx="5086499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File handling (read/write)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28165" y="4941242"/>
            <a:ext cx="5086499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Menu-driven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28165" y="5493990"/>
            <a:ext cx="5086499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Input validation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28165" y="6046737"/>
            <a:ext cx="5086499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State management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7439" y="7237362"/>
            <a:ext cx="15878324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"This project bridges theoretical C programming concepts with practical banking system implementation"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7023199"/>
            <a:ext cx="38100" cy="1091505"/>
            <a:chOff x="0" y="0"/>
            <a:chExt cx="50800" cy="14553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" cy="1455293"/>
            </a:xfrm>
            <a:custGeom>
              <a:avLst/>
              <a:gdLst/>
              <a:ahLst/>
              <a:cxnLst/>
              <a:rect r="r" b="b" t="t" l="l"/>
              <a:pathLst>
                <a:path h="1455293" w="50800">
                  <a:moveTo>
                    <a:pt x="0" y="0"/>
                  </a:moveTo>
                  <a:lnTo>
                    <a:pt x="50800" y="0"/>
                  </a:lnTo>
                  <a:lnTo>
                    <a:pt x="50800" y="1455293"/>
                  </a:lnTo>
                  <a:lnTo>
                    <a:pt x="0" y="1455293"/>
                  </a:lnTo>
                  <a:close/>
                </a:path>
              </a:pathLst>
            </a:custGeom>
            <a:solidFill>
              <a:srgbClr val="D5D5D8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40409"/>
            <a:ext cx="8346579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54152"/>
            <a:ext cx="4252912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Project Outcomes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202609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Successfully simulated ATM operations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755356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Implemented all the 4 features mentioned in topic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308104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Demonstrated file I/O mastery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712" y="5860851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Created maintainable, menu-driven code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7122319"/>
            <a:ext cx="780588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Learning:</a:t>
            </a: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 Understanding of how real banking software manages data persistence and security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401" y="3454152"/>
            <a:ext cx="4252912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References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1" y="4202609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YouTube tutorials on C File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401" y="4755356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AutoNum type="arabicPeriod" startAt="1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UPES Semester 1 Class Notes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99401" y="7179171"/>
            <a:ext cx="780588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DAG6dnkbJ7I</dc:identifier>
  <dcterms:modified xsi:type="dcterms:W3CDTF">2011-08-01T06:04:30Z</dcterms:modified>
  <cp:revision>1</cp:revision>
</cp:coreProperties>
</file>